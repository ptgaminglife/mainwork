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Master" Target="slideMasters/slideMaster1.xml"/><Relationship Id="rId4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rgbClr val="FFFFFF"/>
          </a:solidFill>
          <a:latin typeface="Calibri"/>
          <a:ea typeface="Microsoft JhengHei"/>
        </a:defRPr>
      </a:lvl1pPr>
    </p:titleStyle>
    <p:bodyStyle>
      <a:lvl1pPr>
        <a:defRPr sz="1800">
          <a:solidFill>
            <a:srgbClr val="C6BCD8"/>
          </a:solidFill>
          <a:latin typeface="Calibri"/>
          <a:ea typeface="Microsoft JhengHei"/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A2E6E"/>
            </a:gs>
            <a:gs pos="55000">
              <a:srgbClr val="241640"/>
            </a:gs>
            <a:gs pos="100000">
              <a:srgbClr val="0E0918"/>
            </a:gs>
          </a:gsLst>
          <a:path path="circle">
            <a:fillToRect l="52000" t="8000" r="48000" b="92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7498080" y="-1828800"/>
            <a:ext cx="6766560" cy="6766560"/>
          </a:xfrm>
          <a:prstGeom prst="ellipse">
            <a:avLst/>
          </a:prstGeom>
          <a:gradFill>
            <a:gsLst>
              <a:gs pos="0">
                <a:srgbClr val="F56040">
                  <a:alpha val="62000"/>
                </a:srgbClr>
              </a:gs>
              <a:gs pos="55000">
                <a:srgbClr val="C13584">
                  <a:alpha val="42000"/>
                </a:srgbClr>
              </a:gs>
              <a:gs pos="100000">
                <a:srgbClr val="833AB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41248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個 人 品 牌 實 戰 課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22960" y="1600200"/>
            <a:ext cx="85953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58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用個人 IP</a:t>
            </a:r>
          </a:p>
          <a:p>
            <a:pPr algn="l">
              <a:lnSpc>
                <a:spcPct val="104000"/>
              </a:lnSpc>
              <a:spcBef>
                <a:spcPts val="400"/>
              </a:spcBef>
            </a:pPr>
            <a:r>
              <a:rPr lang="en-US" sz="58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幫自己加薪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59536" y="3977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sz="19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從 0 到能變現:定位 × 商業價值 × IG 流量 × 七天實戰</a:t>
            </a:r>
          </a:p>
        </p:txBody>
      </p:sp>
      <p:sp>
        <p:nvSpPr>
          <p:cNvPr id="15" name="r15"/>
          <p:cNvSpPr/>
          <p:nvPr/>
        </p:nvSpPr>
        <p:spPr>
          <a:xfrm>
            <a:off x="841248" y="5074920"/>
            <a:ext cx="6126480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060704" y="5074920"/>
            <a:ext cx="58521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00" b="1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@ailifeu</a:t>
            </a:r>
            <a:r>
              <a:rPr lang="en-US" sz="14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   · 常常在廁所錄影片的工程師奶爸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課 程 地 圖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22960" y="932688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這堂課,我們走這五段</a:t>
            </a:r>
          </a:p>
        </p:txBody>
      </p:sp>
      <p:sp>
        <p:nvSpPr>
          <p:cNvPr id="13" name="r13"/>
          <p:cNvSpPr/>
          <p:nvPr/>
        </p:nvSpPr>
        <p:spPr>
          <a:xfrm>
            <a:off x="822960" y="2148840"/>
            <a:ext cx="5074920" cy="868680"/>
          </a:xfrm>
          <a:prstGeom prst="roundRect">
            <a:avLst>
              <a:gd name="adj" fmla="val 14000"/>
            </a:avLst>
          </a:prstGeom>
          <a:solidFill>
            <a:srgbClr val="241A38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r14"/>
          <p:cNvSpPr/>
          <p:nvPr/>
        </p:nvSpPr>
        <p:spPr>
          <a:xfrm>
            <a:off x="969264" y="2322576"/>
            <a:ext cx="530352" cy="530352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969264" y="23225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691640" y="2276856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開場 Hook:沒 IP 會怎樣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25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被隱形、被比價、被 AI 稀釋</a:t>
            </a:r>
          </a:p>
        </p:txBody>
      </p:sp>
      <p:sp>
        <p:nvSpPr>
          <p:cNvPr id="17" name="r17"/>
          <p:cNvSpPr/>
          <p:nvPr/>
        </p:nvSpPr>
        <p:spPr>
          <a:xfrm>
            <a:off x="6172200" y="2148840"/>
            <a:ext cx="5074920" cy="868680"/>
          </a:xfrm>
          <a:prstGeom prst="roundRect">
            <a:avLst>
              <a:gd name="adj" fmla="val 14000"/>
            </a:avLst>
          </a:prstGeom>
          <a:solidFill>
            <a:srgbClr val="241A38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6318504" y="2322576"/>
            <a:ext cx="530352" cy="530352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6318504" y="23225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040880" y="2276856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IP 為何要有商業價值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25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粉絲數 ≠ 錢</a:t>
            </a:r>
          </a:p>
        </p:txBody>
      </p:sp>
      <p:sp>
        <p:nvSpPr>
          <p:cNvPr id="21" name="r21"/>
          <p:cNvSpPr/>
          <p:nvPr/>
        </p:nvSpPr>
        <p:spPr>
          <a:xfrm>
            <a:off x="822960" y="3273552"/>
            <a:ext cx="5074920" cy="868680"/>
          </a:xfrm>
          <a:prstGeom prst="roundRect">
            <a:avLst>
              <a:gd name="adj" fmla="val 14000"/>
            </a:avLst>
          </a:prstGeom>
          <a:solidFill>
            <a:srgbClr val="241A38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969264" y="3447288"/>
            <a:ext cx="530352" cy="530352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3" name="t23"/>
          <p:cNvSpPr txBox="1"/>
          <p:nvPr/>
        </p:nvSpPr>
        <p:spPr>
          <a:xfrm>
            <a:off x="969264" y="34472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1691640" y="3401568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如何打造個人 IP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25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定位 × 人設 × 受眾的痛</a:t>
            </a:r>
          </a:p>
        </p:txBody>
      </p:sp>
      <p:sp>
        <p:nvSpPr>
          <p:cNvPr id="25" name="r25"/>
          <p:cNvSpPr/>
          <p:nvPr/>
        </p:nvSpPr>
        <p:spPr>
          <a:xfrm>
            <a:off x="6172200" y="3273552"/>
            <a:ext cx="5074920" cy="868680"/>
          </a:xfrm>
          <a:prstGeom prst="roundRect">
            <a:avLst>
              <a:gd name="adj" fmla="val 14000"/>
            </a:avLst>
          </a:prstGeom>
          <a:solidFill>
            <a:srgbClr val="241A38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r26"/>
          <p:cNvSpPr/>
          <p:nvPr/>
        </p:nvSpPr>
        <p:spPr>
          <a:xfrm>
            <a:off x="6318504" y="3447288"/>
            <a:ext cx="530352" cy="530352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6318504" y="344728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7040880" y="3401568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IG 流量的底層邏輯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25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演算法怎麼推你、怎麼降權你</a:t>
            </a:r>
          </a:p>
        </p:txBody>
      </p:sp>
      <p:sp>
        <p:nvSpPr>
          <p:cNvPr id="29" name="r29"/>
          <p:cNvSpPr/>
          <p:nvPr/>
        </p:nvSpPr>
        <p:spPr>
          <a:xfrm>
            <a:off x="3497580" y="4398264"/>
            <a:ext cx="5074920" cy="868680"/>
          </a:xfrm>
          <a:prstGeom prst="roundRect">
            <a:avLst>
              <a:gd name="adj" fmla="val 14000"/>
            </a:avLst>
          </a:prstGeom>
          <a:solidFill>
            <a:srgbClr val="241A38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3643884" y="4572000"/>
            <a:ext cx="530352" cy="530352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1" name="t31"/>
          <p:cNvSpPr txBox="1"/>
          <p:nvPr/>
        </p:nvSpPr>
        <p:spPr>
          <a:xfrm>
            <a:off x="3643884" y="45720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5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4366260" y="4526280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七天作業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25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打造 IP 的第一塊地基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6295F"/>
            </a:gs>
            <a:gs pos="55000">
              <a:srgbClr val="20163A"/>
            </a:gs>
            <a:gs pos="100000">
              <a:srgbClr val="0E0918"/>
            </a:gs>
          </a:gsLst>
          <a:path path="circle">
            <a:fillToRect l="60000" t="30000" r="40000" b="7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6035040" y="365760"/>
            <a:ext cx="5852160" cy="5669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320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01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6868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1 · 開場 HOOK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41248" y="2395728"/>
            <a:ext cx="65836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4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這個時代,沒有個人 IP 的人會怎樣?</a:t>
            </a:r>
          </a:p>
        </p:txBody>
      </p:sp>
      <p:sp>
        <p:nvSpPr>
          <p:cNvPr id="14" name="r14"/>
          <p:cNvSpPr/>
          <p:nvPr/>
        </p:nvSpPr>
        <p:spPr>
          <a:xfrm>
            <a:off x="914400" y="4224528"/>
            <a:ext cx="566928" cy="822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68680" y="4462272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lang="en-US" sz="17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一句話開場、不自我介紹 —— 先讓學員產生『我不能再拖了』。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1 · 開場 HOOK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讓一萬個陌生人,替你決定你值多少錢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十年前想加薪,要求主管、求老闆、求那一間公司給你機會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現在你能直接讓市場替你定價 —— 差別只在有沒有個人 IP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這句話當全場的鉤子:先勾住,再開始講。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1 · 開場 HOOK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你的專業別人看不到,就等於不存在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會做同一件事的人太多了,你永遠在跟全世界比價格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市場不是付錢給『會做的人』,是付錢給『被看見、被信任的人』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有 IP,別人是『指名』找你。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1 · 開場 HOOK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演算法,已經取代了履歷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以前價值寫在一張 A4,由一個 HR 判斷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現在價值寫在內容裡,由演算法分發給對的人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不經營內容 = 把免費的分發引擎讓給別人用。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1 · 開場 HOOK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AI 讓「會做事」變便宜,「被信任的人」變更貴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AI 出來後,會操作工具的人一抓一大把,價值往下掉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真正漲價的,是讓大家願意聽他說『這工具怎麼用』的人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技能會被 AI 稀釋,信任不會 —— IP 就是在囤信任。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5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1 · 開場 HOOK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把痛講到底,但一定要留出口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最慘的不是沒紅,是你很有料、世界卻不知道你存在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於是你只能拿跟『沒料的人』一樣的薪水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痛點必配『但有解』—— 製造急迫感,不是絕望。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FCAF45"/>
              </a:gs>
              <a:gs pos="50000">
                <a:srgbClr val="F7B733"/>
              </a:gs>
              <a:gs pos="100000">
                <a:srgbClr val="F09819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6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1 · 開場 HOOK  ·  🔰 新手概念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個人 IP ≠ 網紅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你不用當明星、不用才藝、不用上鏡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只要在一個很窄的主題裡,成為『別人有問題會想到你』的那個人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門檻不是才華,是持續在同一個主題上出現。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6295F"/>
            </a:gs>
            <a:gs pos="55000">
              <a:srgbClr val="20163A"/>
            </a:gs>
            <a:gs pos="100000">
              <a:srgbClr val="0E0918"/>
            </a:gs>
          </a:gsLst>
          <a:path path="circle">
            <a:fillToRect l="60000" t="30000" r="40000" b="7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6035040" y="365760"/>
            <a:ext cx="5852160" cy="5669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320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02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6868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2 · 商業價值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41248" y="2395728"/>
            <a:ext cx="65836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4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IP 為什麼「一定」要有商業價值?</a:t>
            </a:r>
          </a:p>
        </p:txBody>
      </p:sp>
      <p:sp>
        <p:nvSpPr>
          <p:cNvPr id="14" name="r14"/>
          <p:cNvSpPr/>
          <p:nvPr/>
        </p:nvSpPr>
        <p:spPr>
          <a:xfrm>
            <a:off x="914400" y="4224528"/>
            <a:ext cx="566928" cy="822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68680" y="4462272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lang="en-US" sz="17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沒有商業價值的 IP,不是資產,是興趣。興趣消耗你,資產回饋你。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2 · 商業價值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粉絲數 ≠ 錢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598932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別人一支影片 26.4K 讚、一則貼文 20.3 萬瀏覽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我很多貼文卻是個位數 —— 不是內容爛,是帳號沒過冷啟動</a:t>
            </a:r>
          </a:p>
        </p:txBody>
      </p:sp>
      <p:sp>
        <p:nvSpPr>
          <p:cNvPr id="17" name="r17"/>
          <p:cNvSpPr/>
          <p:nvPr/>
        </p:nvSpPr>
        <p:spPr>
          <a:xfrm>
            <a:off x="8183880" y="2194560"/>
            <a:ext cx="2926080" cy="2880360"/>
          </a:xfrm>
          <a:prstGeom prst="roundRect">
            <a:avLst>
              <a:gd name="adj" fmla="val 9000"/>
            </a:avLst>
          </a:prstGeom>
          <a:solidFill>
            <a:srgbClr val="2C2144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8183880" y="26974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能換錢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8439912" y="4069080"/>
            <a:ext cx="2414016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sz="14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才是 IP 真正的體檢報告 —— 流量會騙人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2 · 商業價值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商業價值是選題的過濾器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先問『這篇能不能帶來會付錢給我的人』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你就不會去追那種『會爆但帶錯人』的題目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會爆但帶錯受眾的題目 = 傷害,不是紅利。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2 · 商業價值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商業價值讓你撐得久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598932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純靠愛發電的帳號,九成死在『沒回饋』的疲乏裡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有現金流(哪怕很小),才有理由每天在場、持續產出</a:t>
            </a:r>
          </a:p>
        </p:txBody>
      </p:sp>
      <p:sp>
        <p:nvSpPr>
          <p:cNvPr id="17" name="r17"/>
          <p:cNvSpPr/>
          <p:nvPr/>
        </p:nvSpPr>
        <p:spPr>
          <a:xfrm>
            <a:off x="8183880" y="2194560"/>
            <a:ext cx="2926080" cy="2880360"/>
          </a:xfrm>
          <a:prstGeom prst="roundRect">
            <a:avLst>
              <a:gd name="adj" fmla="val 9000"/>
            </a:avLst>
          </a:prstGeom>
          <a:solidFill>
            <a:srgbClr val="2C2144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8183880" y="26974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90%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8439912" y="4069080"/>
            <a:ext cx="2414016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sz="14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純愛發電的帳號,最後默默停更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2 · 商業價值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商業價值決定你 IP 的天花板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沒有變現路徑:天花板是『多一點虛榮』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有變現路徑:天花板是『多一份、甚至取代本業的收入』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一開始就想清楚往哪變現,內容才不會白做。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5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2 · 商業價值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不是叫你馬上賣課 —— 商業價值有四層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① 信任資產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有人記住你、信任你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② 導流價值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能把流量導去某處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③ 服務 / 接案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有人私訊『你能幫我…』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④ 產品 / 課程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把方法打包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先給價值、把信任囤厚,變現是水到渠成的副產品。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FCAF45"/>
              </a:gs>
              <a:gs pos="50000">
                <a:srgbClr val="F7B733"/>
              </a:gs>
              <a:gs pos="100000">
                <a:srgbClr val="F09819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6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2 · 商業價值  ·  🔰 新手概念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先想好「靠什麼收錢」,再做內容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別衝完粉才問怎麼變現 —— 會衝來一堆不掏錢的人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一開始就假設一個變現終點,讓內容一路往那鋪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你養的這群人,將來會為什麼掏錢?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6295F"/>
            </a:gs>
            <a:gs pos="55000">
              <a:srgbClr val="20163A"/>
            </a:gs>
            <a:gs pos="100000">
              <a:srgbClr val="0E0918"/>
            </a:gs>
          </a:gsLst>
          <a:path path="circle">
            <a:fillToRect l="60000" t="30000" r="40000" b="7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6035040" y="365760"/>
            <a:ext cx="5852160" cy="5669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320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03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6868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3 · 打造 IP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41248" y="2395728"/>
            <a:ext cx="65836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4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如何打造個人 IP:一套可複製的定位公式</a:t>
            </a:r>
          </a:p>
        </p:txBody>
      </p:sp>
      <p:sp>
        <p:nvSpPr>
          <p:cNvPr id="14" name="r14"/>
          <p:cNvSpPr/>
          <p:nvPr/>
        </p:nvSpPr>
        <p:spPr>
          <a:xfrm>
            <a:off x="914400" y="4224528"/>
            <a:ext cx="566928" cy="822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68680" y="4462272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lang="en-US" sz="17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打造 IP 不是找到你有多特別,是找到『你能持續講、市場又要聽』的交集。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3 · 打造 IP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定位公式:IP = 領域 × 人設 × 受眾的痛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填一句話:我是那個幫【誰】,用【什麼領域】,解決【什麼痛】的人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三個交集鎖住,就是你的定位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幫『想用 AI 變現的上班族』,解決『不會 code 也想手搓』的痛。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3 · 打造 IP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領域一定要「窄」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演算法靠興趣推薦找人 —— 主題集中 1–2 個領域,它才認得你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什麼都講 = 演算法搞不清你 = 誰都不推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窄不是限制,是讓對的人找得到你的前提。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3 · 打造 IP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人設是「風味」,不是「主題」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奶爸 / 不會 code / 英文普普 = 讓人記住我的調味料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但我的主題永遠是 AI,不是育兒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人設分不清主題,帳號就會走鐘。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3 · 打造 IP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內容支柱:4 型輪流發,別每天重想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痛點型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引共鳴、被轉發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教學 / 清單型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被收藏、建專業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觀點型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表態、拉留言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展示型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證明你真的會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每一篇都要能一句話回答:『觀眾看完拿到什麼?』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5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3 · 打造 IP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打造 IP 的三階段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598932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① 養帳號期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主題集中、每天在場、別期待單篇爆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② 累積信任期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讓人『因為有用而追蹤』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③ 變現期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有人開始私訊你、指名你</a:t>
            </a:r>
          </a:p>
        </p:txBody>
      </p:sp>
      <p:sp>
        <p:nvSpPr>
          <p:cNvPr id="17" name="r17"/>
          <p:cNvSpPr/>
          <p:nvPr/>
        </p:nvSpPr>
        <p:spPr>
          <a:xfrm>
            <a:off x="8183880" y="2194560"/>
            <a:ext cx="2926080" cy="2880360"/>
          </a:xfrm>
          <a:prstGeom prst="roundRect">
            <a:avLst>
              <a:gd name="adj" fmla="val 9000"/>
            </a:avLst>
          </a:prstGeom>
          <a:solidFill>
            <a:srgbClr val="2C2144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8183880" y="26974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3.4萬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8439912" y="4069080"/>
            <a:ext cx="2414016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sz="14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頭部帳號拿 3.4 萬,我 0 粉只拿 4 —— 差別在帳號,不在文案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FCAF45"/>
              </a:gs>
              <a:gs pos="50000">
                <a:srgbClr val="F7B733"/>
              </a:gs>
              <a:gs pos="100000">
                <a:srgbClr val="F09819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6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3 · 打造 IP  ·  🔰 新手概念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不用等「準備好」才開始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IP 不是規劃出來的,是發了、看數據、再調整長出來的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你的定位會在發過 20 篇後才真正清楚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完成度 60 分就發,勝過 100 分躺在草稿匣。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6295F"/>
            </a:gs>
            <a:gs pos="55000">
              <a:srgbClr val="20163A"/>
            </a:gs>
            <a:gs pos="100000">
              <a:srgbClr val="0E0918"/>
            </a:gs>
          </a:gsLst>
          <a:path path="circle">
            <a:fillToRect l="60000" t="30000" r="40000" b="7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6035040" y="365760"/>
            <a:ext cx="5852160" cy="5669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320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04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6868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4 · IG 流量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41248" y="2395728"/>
            <a:ext cx="65836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4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IG 如何創造流量:底層邏輯與平台規則</a:t>
            </a:r>
          </a:p>
        </p:txBody>
      </p:sp>
      <p:sp>
        <p:nvSpPr>
          <p:cNvPr id="14" name="r14"/>
          <p:cNvSpPr/>
          <p:nvPr/>
        </p:nvSpPr>
        <p:spPr>
          <a:xfrm>
            <a:off x="914400" y="4224528"/>
            <a:ext cx="566928" cy="822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68680" y="4462272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lang="en-US" sz="17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IG 的目標不是讓你紅,是讓用戶一直滑下去 —— 你要變成那個讓人停不下來的內容。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4 · IG 流量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2026 演算法的權重排序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你的影片目標不是『被讚』,是『被看完、被存、被傳』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847088" y="27432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完播 / 觀看時間</a:t>
            </a:r>
          </a:p>
        </p:txBody>
      </p:sp>
      <p:sp>
        <p:nvSpPr>
          <p:cNvPr id="18" name="r18"/>
          <p:cNvSpPr/>
          <p:nvPr/>
        </p:nvSpPr>
        <p:spPr>
          <a:xfrm>
            <a:off x="4590288" y="2798064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2A2044"/>
          </a:solidFill>
        </p:spPr>
        <p:txBody>
          <a:bodyPr/>
          <a:lstStyle/>
          <a:p/>
        </p:txBody>
      </p:sp>
      <p:sp>
        <p:nvSpPr>
          <p:cNvPr id="19" name="r19"/>
          <p:cNvSpPr/>
          <p:nvPr/>
        </p:nvSpPr>
        <p:spPr>
          <a:xfrm>
            <a:off x="4590288" y="2798064"/>
            <a:ext cx="4937760" cy="3657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9692640" y="2743200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35%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1847088" y="3529584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收藏</a:t>
            </a:r>
          </a:p>
        </p:txBody>
      </p:sp>
      <p:sp>
        <p:nvSpPr>
          <p:cNvPr id="22" name="r22"/>
          <p:cNvSpPr/>
          <p:nvPr/>
        </p:nvSpPr>
        <p:spPr>
          <a:xfrm>
            <a:off x="4590288" y="3584448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2A2044"/>
          </a:solidFill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4590288" y="3584448"/>
            <a:ext cx="3526971" cy="3657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9692640" y="352958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25%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847088" y="43159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DM 轉發</a:t>
            </a:r>
          </a:p>
        </p:txBody>
      </p:sp>
      <p:sp>
        <p:nvSpPr>
          <p:cNvPr id="26" name="r26"/>
          <p:cNvSpPr/>
          <p:nvPr/>
        </p:nvSpPr>
        <p:spPr>
          <a:xfrm>
            <a:off x="4590288" y="4370832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2A2044"/>
          </a:solidFill>
        </p:spPr>
        <p:txBody>
          <a:bodyPr/>
          <a:lstStyle/>
          <a:p/>
        </p:txBody>
      </p:sp>
      <p:sp>
        <p:nvSpPr>
          <p:cNvPr id="27" name="r27"/>
          <p:cNvSpPr/>
          <p:nvPr/>
        </p:nvSpPr>
        <p:spPr>
          <a:xfrm>
            <a:off x="4590288" y="4370832"/>
            <a:ext cx="2821577" cy="3657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28" name="t28"/>
          <p:cNvSpPr txBox="1"/>
          <p:nvPr/>
        </p:nvSpPr>
        <p:spPr>
          <a:xfrm>
            <a:off x="9692640" y="431596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20%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1847088" y="510235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讚</a:t>
            </a:r>
          </a:p>
        </p:txBody>
      </p:sp>
      <p:sp>
        <p:nvSpPr>
          <p:cNvPr id="30" name="r30"/>
          <p:cNvSpPr/>
          <p:nvPr/>
        </p:nvSpPr>
        <p:spPr>
          <a:xfrm>
            <a:off x="4590288" y="5157216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2A2044"/>
          </a:solidFill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4590288" y="5157216"/>
            <a:ext cx="705394" cy="3657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9692640" y="5102352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00" b="1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5%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4 · IG 流量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五條刻進骨子裡的機制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第 3 秒是生死線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滑過還在看,就往外推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重播 = 超高價值訊號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短片配『結尾接回開頭』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DM 轉發權重是讚的 3–5 倍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設計『傳給某人』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發布後 30–60 分鐘互動速度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決定破不破圈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興趣推薦取代粉絲導向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主題集中才被找到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4 · IG 流量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鉤子三層,同時進攻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口白層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第一句就是鉤子,且含關鍵字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畫面層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第一幀秀成果,靜止開頭是死刑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字卡層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3–7 個大字壓縮承諾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85% 的人關聲音在看 —— hook 不能只靠『講』。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4 · IG 流量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降權地雷:一做就被扣分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✕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開頭自我介紹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、鋪陳背景(直接被滑)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✕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帶浮水印的轉載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(TikTok logo 直接降權)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✕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非 9:16 直式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、畫質差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✕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連環 CTA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(一支影片只下一個)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✕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硬塞 30 個 hashtag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(1–3 個精準就好)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賺流量之前,先別被扣分。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5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4 · IG 流量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三個真實流量教訓 + 診斷公式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598932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6–7 秒魔咒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主體每 2–3 秒要一個視覺變化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猛料前置 0–3 秒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最捨不得的那張牌放第一句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留言關鍵字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給交換條件,留言率翻十倍</a:t>
            </a:r>
          </a:p>
        </p:txBody>
      </p:sp>
      <p:sp>
        <p:nvSpPr>
          <p:cNvPr id="17" name="r17"/>
          <p:cNvSpPr/>
          <p:nvPr/>
        </p:nvSpPr>
        <p:spPr>
          <a:xfrm>
            <a:off x="8183880" y="2194560"/>
            <a:ext cx="2926080" cy="2880360"/>
          </a:xfrm>
          <a:prstGeom prst="roundRect">
            <a:avLst>
              <a:gd name="adj" fmla="val 9000"/>
            </a:avLst>
          </a:prstGeom>
          <a:solidFill>
            <a:srgbClr val="2C2144"/>
          </a:soli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8183880" y="26974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35%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8439912" y="4069080"/>
            <a:ext cx="2414016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</a:pPr>
            <a:r>
              <a:rPr lang="en-US" sz="14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留言關鍵字機制,把留言率從 1–3% 拉到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FCAF45"/>
              </a:gs>
              <a:gs pos="50000">
                <a:srgbClr val="F7B733"/>
              </a:gs>
              <a:gs pos="100000">
                <a:srgbClr val="F09819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6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4 · IG 流量  ·  🔰 新手概念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冷啟動,是每個新帳號的必經階段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演算法先看『這是誰發的』,再決定給你多少初始流量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個位數瀏覽是正常的,不是你內容爛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別急著砍帳號重開 —— 重開只會永遠停在冷啟動。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FCAF45"/>
              </a:gs>
              <a:gs pos="50000">
                <a:srgbClr val="F7B733"/>
              </a:gs>
              <a:gs pos="100000">
                <a:srgbClr val="F09819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7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4 · IG 流量  ·  🔰 新手概念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平台要的是「把用戶留在 App 裡」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IG 的 KPI 是停留時間,它獎勵讓人看很久的內容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你不用背一堆技巧,只要跟它站在同一邊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發文前只問一句:這會讓人多待、還是想滑走?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FCAF45"/>
              </a:gs>
              <a:gs pos="50000">
                <a:srgbClr val="F7B733"/>
              </a:gs>
              <a:gs pos="100000">
                <a:srgbClr val="F09819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8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4 · IG 流量  ·  🔰 新手概念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5953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2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先「養帳號」再「拚內容」,互動 ≥ 發文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個人頁(bio + 頭像)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三秒讓人看懂你是誰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每天認真回別人熱門貼文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曝光 ≈ 自己發一篇</a:t>
            </a:r>
          </a:p>
          <a:p>
            <a:pPr algn="l" marL="384048" indent="-384048">
              <a:lnSpc>
                <a:spcPct val="118000"/>
              </a:lnSpc>
              <a:spcBef>
                <a:spcPts val="900"/>
              </a:spcBef>
            </a:pPr>
            <a:r>
              <a:rPr lang="en-US" sz="155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55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備 1–2 個能秀的小作品</a:t>
            </a:r>
            <a:r>
              <a:rPr lang="en-US" sz="155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—— 當敲門磚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572000"/>
            <a:ext cx="9052560" cy="1051560"/>
          </a:xfrm>
          <a:prstGeom prst="roundRect">
            <a:avLst>
              <a:gd name="adj" fmla="val 12000"/>
            </a:avLst>
          </a:prstGeom>
          <a:solidFill>
            <a:srgbClr val="241A38"/>
          </a:solidFill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1847088" y="4572000"/>
            <a:ext cx="82296" cy="1051560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2139696" y="457200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US" sz="22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“ </a:t>
            </a:r>
            <a:r>
              <a:rPr lang="en-US" sz="1550" b="1" i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0 粉時的成長,靠『在對的地方被看見』,不是狂發。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6295F"/>
            </a:gs>
            <a:gs pos="55000">
              <a:srgbClr val="20163A"/>
            </a:gs>
            <a:gs pos="100000">
              <a:srgbClr val="0E0918"/>
            </a:gs>
          </a:gsLst>
          <a:path path="circle">
            <a:fillToRect l="60000" t="30000" r="40000" b="7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6035040" y="365760"/>
            <a:ext cx="5852160" cy="5669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320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05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68680" y="1965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PART 5 · 七天作業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41248" y="2395728"/>
            <a:ext cx="65836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en-US" sz="4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接下來 7 天,打造你 IP 的第一塊地基</a:t>
            </a:r>
          </a:p>
        </p:txBody>
      </p:sp>
      <p:sp>
        <p:nvSpPr>
          <p:cNvPr id="14" name="r14"/>
          <p:cNvSpPr/>
          <p:nvPr/>
        </p:nvSpPr>
        <p:spPr>
          <a:xfrm>
            <a:off x="914400" y="4224528"/>
            <a:ext cx="566928" cy="8229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68680" y="4462272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</a:pPr>
            <a:r>
              <a:rPr lang="en-US" sz="17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不是叫你爆紅,是把地基打下去。每天 30–60 分鐘,做完就有一個能跑的 IP 雛形。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1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5 · 七天作業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DAY 1–2   </a:t>
            </a:r>
            <a:r>
              <a:rPr lang="en-US" sz="21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先定位、再挖痛點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Day 1:寫出定位一句話 + 選定唯一領域 + 三個人設關鍵字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Day 2:列出受眾一天中 3 個具體煩惱 + 他們現在怎麼笨笨解決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343400"/>
            <a:ext cx="9052560" cy="658368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2121408" y="434340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✅ 交付物   </a:t>
            </a:r>
            <a:r>
              <a:rPr lang="en-US" sz="140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一句定位 + 一座專屬你的『選題礦』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5 · 七天作業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DAY 3–4   </a:t>
            </a:r>
            <a:r>
              <a:rPr lang="en-US" sz="21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排內容支柱、整帳號基建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Day 3:定 3–4 個內容支柱,湊出 8 個選題進題庫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Day 4:bio 三秒讓人看懂你 + 準備 1 個能秀的小作品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343400"/>
            <a:ext cx="9052560" cy="658368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2121408" y="434340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✅ 交付物   </a:t>
            </a:r>
            <a:r>
              <a:rPr lang="en-US" sz="140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一張支柱表 + 改好的個人頁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3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5 · 七天作業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DAY 5   </a:t>
            </a:r>
            <a:r>
              <a:rPr lang="en-US" sz="21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寫出第一支腳本,套三層 Hook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口白層鉤子(第一句含關鍵字)+ 畫面層(第一幀秀成果)+ 字卡層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檢查:主體每 2–3 秒一變化?結尾只有一個 CTA?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343400"/>
            <a:ext cx="9052560" cy="658368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2121408" y="434340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✅ 交付物   </a:t>
            </a:r>
            <a:r>
              <a:rPr lang="en-US" sz="140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一份完整腳本(Hook / 主體 / 收尾)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4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5 · 七天作業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DAY 6   </a:t>
            </a:r>
            <a:r>
              <a:rPr lang="en-US" sz="21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發佈 + 守留言區,實測冷啟動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9:16、上字幕、1 個 CTA、1–3 個精準標籤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發佈後 60 分鐘守留言;去熱門貼文留一則有料留言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343400"/>
            <a:ext cx="9052560" cy="658368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2121408" y="434340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✅ 交付物   </a:t>
            </a:r>
            <a:r>
              <a:rPr lang="en-US" sz="140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發佈連結 + 留言互動截圖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1430"/>
            </a:gs>
            <a:gs pos="100000">
              <a:srgbClr val="110B1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1"/>
          <p:cNvSpPr/>
          <p:nvPr/>
        </p:nvSpPr>
        <p:spPr>
          <a:xfrm>
            <a:off x="822960" y="566928"/>
            <a:ext cx="841248" cy="841248"/>
          </a:xfrm>
          <a:prstGeom prst="ellipse">
            <a:avLst/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  <a:effectLst>
            <a:outerShdw blurRad="110000" dist="45000" dir="5400000" rotWithShape="0">
              <a:srgbClr val="000000">
                <a:alpha val="4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22960" y="5852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5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847088" y="60350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spc="2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PART 5 · 七天作業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47088" y="91440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DAY 7   </a:t>
            </a:r>
            <a:r>
              <a:rPr lang="en-US" sz="21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複盤:用診斷公式讀對的指標</a:t>
            </a:r>
          </a:p>
        </p:txBody>
      </p:sp>
      <p:sp>
        <p:nvSpPr>
          <p:cNvPr id="15" name="r15"/>
          <p:cNvSpPr/>
          <p:nvPr/>
        </p:nvSpPr>
        <p:spPr>
          <a:xfrm>
            <a:off x="1847088" y="1847088"/>
            <a:ext cx="502920" cy="50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1847088" y="2212848"/>
            <a:ext cx="9052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84048" indent="-384048">
              <a:lnSpc>
                <a:spcPct val="118000"/>
              </a:lnSpc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記下觀看、平均觀看時間、略過率、收藏、分享</a:t>
            </a:r>
          </a:p>
          <a:p>
            <a:pPr algn="l" marL="384048" indent="-384048">
              <a:lnSpc>
                <a:spcPct val="118000"/>
              </a:lnSpc>
              <a:spcBef>
                <a:spcPts val="1100"/>
              </a:spcBef>
            </a:pPr>
            <a:r>
              <a:rPr lang="en-US" sz="1600" b="1">
                <a:solidFill>
                  <a:srgbClr val="E1306C"/>
                </a:solidFill>
                <a:latin typeface="Calibri"/>
                <a:ea typeface="Microsoft JhengHei"/>
                <a:cs typeface="Calibri"/>
              </a:rPr>
              <a:t>—  </a:t>
            </a:r>
            <a:r>
              <a:rPr lang="en-US" sz="1600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判斷你現在是『帳號冷啟動』還是『內容包裝』問題</a:t>
            </a:r>
          </a:p>
        </p:txBody>
      </p:sp>
      <p:sp>
        <p:nvSpPr>
          <p:cNvPr id="17" name="r17"/>
          <p:cNvSpPr/>
          <p:nvPr/>
        </p:nvSpPr>
        <p:spPr>
          <a:xfrm>
            <a:off x="1847088" y="4343400"/>
            <a:ext cx="9052560" cy="658368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405DE6"/>
              </a:gs>
              <a:gs pos="18000">
                <a:srgbClr val="5B51D8"/>
              </a:gs>
              <a:gs pos="38000">
                <a:srgbClr val="833AB4"/>
              </a:gs>
              <a:gs pos="58000">
                <a:srgbClr val="C13584"/>
              </a:gs>
              <a:gs pos="76000">
                <a:srgbClr val="E1306C"/>
              </a:gs>
              <a:gs pos="90000">
                <a:srgbClr val="F56040"/>
              </a:gs>
              <a:gs pos="100000">
                <a:srgbClr val="FCAF45"/>
              </a:gs>
            </a:gsLst>
            <a:lin ang="0" scaled="1"/>
          </a:gradFill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2121408" y="434340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✅ 交付物   </a:t>
            </a:r>
            <a:r>
              <a:rPr lang="en-US" sz="1400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數據複盤表 + 下一步『只改的那一件事』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A2E6E"/>
            </a:gs>
            <a:gs pos="55000">
              <a:srgbClr val="241640"/>
            </a:gs>
            <a:gs pos="100000">
              <a:srgbClr val="0E091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86868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spc="260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最 後 一 句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22960" y="1783080"/>
            <a:ext cx="95097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Calibri"/>
                <a:ea typeface="Microsoft JhengHei"/>
                <a:cs typeface="Calibri"/>
              </a:rPr>
              <a:t>演算法不會等你準備好。</a:t>
            </a:r>
          </a:p>
          <a:p>
            <a:pPr algn="l">
              <a:lnSpc>
                <a:spcPct val="124000"/>
              </a:lnSpc>
              <a:spcBef>
                <a:spcPts val="1400"/>
              </a:spcBef>
            </a:pPr>
            <a:r>
              <a:rPr lang="en-US" sz="3000" b="1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你今天不開始囤信任,</a:t>
            </a:r>
          </a:p>
          <a:p>
            <a:pPr algn="l">
              <a:lnSpc>
                <a:spcPct val="124000"/>
              </a:lnSpc>
              <a:spcBef>
                <a:spcPts val="200"/>
              </a:spcBef>
            </a:pPr>
            <a:r>
              <a:rPr lang="en-US" sz="3000" b="1">
                <a:solidFill>
                  <a:srgbClr val="C6BCD8"/>
                </a:solidFill>
                <a:latin typeface="Calibri"/>
                <a:ea typeface="Microsoft JhengHei"/>
                <a:cs typeface="Calibri"/>
              </a:rPr>
              <a:t>一年後,還是在跟全世界比價格。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41248" y="448056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600" b="1">
                <a:gradFill>
                  <a:gsLst>
                    <a:gs pos="0">
                      <a:srgbClr val="405DE6"/>
                    </a:gs>
                    <a:gs pos="18000">
                      <a:srgbClr val="5B51D8"/>
                    </a:gs>
                    <a:gs pos="38000">
                      <a:srgbClr val="833AB4"/>
                    </a:gs>
                    <a:gs pos="58000">
                      <a:srgbClr val="C13584"/>
                    </a:gs>
                    <a:gs pos="76000">
                      <a:srgbClr val="E1306C"/>
                    </a:gs>
                    <a:gs pos="90000">
                      <a:srgbClr val="F56040"/>
                    </a:gs>
                    <a:gs pos="100000">
                      <a:srgbClr val="FCAF45"/>
                    </a:gs>
                  </a:gsLst>
                  <a:lin ang="2700000" scaled="1"/>
                </a:gradFill>
                <a:latin typeface="Calibri"/>
                <a:ea typeface="Microsoft JhengHei"/>
                <a:cs typeface="Calibri"/>
              </a:rPr>
              <a:t>接下來這七天,換你了。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59536" y="54406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00" b="1">
                <a:solidFill>
                  <a:srgbClr val="FCAF45"/>
                </a:solidFill>
                <a:latin typeface="Calibri"/>
                <a:ea typeface="Microsoft JhengHei"/>
                <a:cs typeface="Calibri"/>
              </a:rPr>
              <a:t>@ailifeu</a:t>
            </a:r>
            <a:r>
              <a:rPr lang="en-US" sz="1400">
                <a:solidFill>
                  <a:srgbClr val="8E84A6"/>
                </a:solidFill>
                <a:latin typeface="Calibri"/>
                <a:ea typeface="Microsoft JhengHei"/>
                <a:cs typeface="Calibri"/>
              </a:rPr>
              <a:t>   · 用個人 IP 幫自己加薪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IG">
  <a:themeElements>
    <a:clrScheme name="IG">
      <a:dk1>
        <a:srgbClr val="110B1C"/>
      </a:dk1>
      <a:lt1>
        <a:srgbClr val="FFFFFF"/>
      </a:lt1>
      <a:dk2>
        <a:srgbClr val="241A38"/>
      </a:dk2>
      <a:lt2>
        <a:srgbClr val="C6BCD8"/>
      </a:lt2>
      <a:accent1>
        <a:srgbClr val="E1306C"/>
      </a:accent1>
      <a:accent2>
        <a:srgbClr val="F56040"/>
      </a:accent2>
      <a:accent3>
        <a:srgbClr val="FCAF45"/>
      </a:accent3>
      <a:accent4>
        <a:srgbClr val="C13584"/>
      </a:accent4>
      <a:accent5>
        <a:srgbClr val="833AB4"/>
      </a:accent5>
      <a:accent6>
        <a:srgbClr val="405DE6"/>
      </a:accent6>
      <a:hlink>
        <a:srgbClr val="E1306C"/>
      </a:hlink>
      <a:folHlink>
        <a:srgbClr val="FCAF45"/>
      </a:folHlink>
    </a:clrScheme>
    <a:fontScheme name="IG">
      <a:majorFont>
        <a:latin typeface="Calibri"/>
        <a:ea typeface="Microsoft JhengHei"/>
        <a:cs typeface=""/>
      </a:majorFont>
      <a:minorFont>
        <a:latin typeface="Calibri"/>
        <a:ea typeface="Microsoft JhengHei"/>
        <a:cs typeface=""/>
      </a:minorFont>
    </a:fontScheme>
    <a:fmtScheme name="I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